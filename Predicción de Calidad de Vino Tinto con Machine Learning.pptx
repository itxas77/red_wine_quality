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image" Target="../media/image-2-21.png"/><Relationship Id="rId22" Type="http://schemas.openxmlformats.org/officeDocument/2006/relationships/image" Target="../media/image-2-22.png"/><Relationship Id="rId23" Type="http://schemas.openxmlformats.org/officeDocument/2006/relationships/image" Target="../media/image-2-23.png"/><Relationship Id="rId24" Type="http://schemas.openxmlformats.org/officeDocument/2006/relationships/image" Target="../media/image-2-24.png"/><Relationship Id="rId25" Type="http://schemas.openxmlformats.org/officeDocument/2006/relationships/image" Target="../media/image-2-25.png"/><Relationship Id="rId26" Type="http://schemas.openxmlformats.org/officeDocument/2006/relationships/image" Target="../media/image-2-26.png"/><Relationship Id="rId27" Type="http://schemas.openxmlformats.org/officeDocument/2006/relationships/image" Target="../media/image-2-27.png"/><Relationship Id="rId28" Type="http://schemas.openxmlformats.org/officeDocument/2006/relationships/image" Target="../media/image-2-28.png"/><Relationship Id="rId29" Type="http://schemas.openxmlformats.org/officeDocument/2006/relationships/image" Target="../media/image-2-29.png"/><Relationship Id="rId30" Type="http://schemas.openxmlformats.org/officeDocument/2006/relationships/image" Target="../media/image-2-30.png"/><Relationship Id="rId31" Type="http://schemas.openxmlformats.org/officeDocument/2006/relationships/image" Target="../media/image-2-31.png"/><Relationship Id="rId32" Type="http://schemas.openxmlformats.org/officeDocument/2006/relationships/image" Target="../media/image-2-32.png"/><Relationship Id="rId33" Type="http://schemas.openxmlformats.org/officeDocument/2006/relationships/slideLayout" Target="../slideLayouts/slideLayout1.xml"/><Relationship Id="rId3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image" Target="../media/image-3-24.png"/><Relationship Id="rId25" Type="http://schemas.openxmlformats.org/officeDocument/2006/relationships/image" Target="../media/image-3-25.png"/><Relationship Id="rId26" Type="http://schemas.openxmlformats.org/officeDocument/2006/relationships/image" Target="../media/image-3-26.png"/><Relationship Id="rId27" Type="http://schemas.openxmlformats.org/officeDocument/2006/relationships/image" Target="../media/image-3-27.png"/><Relationship Id="rId28" Type="http://schemas.openxmlformats.org/officeDocument/2006/relationships/image" Target="../media/image-3-28.png"/><Relationship Id="rId29" Type="http://schemas.openxmlformats.org/officeDocument/2006/relationships/image" Target="../media/image-3-29.png"/><Relationship Id="rId30" Type="http://schemas.openxmlformats.org/officeDocument/2006/relationships/image" Target="../media/image-3-30.png"/><Relationship Id="rId31" Type="http://schemas.openxmlformats.org/officeDocument/2006/relationships/image" Target="../media/image-3-31.png"/><Relationship Id="rId32" Type="http://schemas.openxmlformats.org/officeDocument/2006/relationships/image" Target="../media/image-3-32.png"/><Relationship Id="rId33" Type="http://schemas.openxmlformats.org/officeDocument/2006/relationships/image" Target="../media/image-3-33.png"/><Relationship Id="rId34" Type="http://schemas.openxmlformats.org/officeDocument/2006/relationships/image" Target="../media/image-3-34.png"/><Relationship Id="rId35" Type="http://schemas.openxmlformats.org/officeDocument/2006/relationships/image" Target="../media/image-3-35.png"/><Relationship Id="rId36" Type="http://schemas.openxmlformats.org/officeDocument/2006/relationships/image" Target="../media/image-3-36.png"/><Relationship Id="rId37" Type="http://schemas.openxmlformats.org/officeDocument/2006/relationships/image" Target="../media/image-3-37.png"/><Relationship Id="rId38" Type="http://schemas.openxmlformats.org/officeDocument/2006/relationships/slideLayout" Target="../slideLayouts/slideLayout1.xml"/><Relationship Id="rId3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image" Target="../media/image-5-21.png"/><Relationship Id="rId22" Type="http://schemas.openxmlformats.org/officeDocument/2006/relationships/image" Target="../media/image-5-22.png"/><Relationship Id="rId23" Type="http://schemas.openxmlformats.org/officeDocument/2006/relationships/image" Target="../media/image-5-23.png"/><Relationship Id="rId24" Type="http://schemas.openxmlformats.org/officeDocument/2006/relationships/image" Target="../media/image-5-24.png"/><Relationship Id="rId25" Type="http://schemas.openxmlformats.org/officeDocument/2006/relationships/image" Target="../media/image-5-25.png"/><Relationship Id="rId26" Type="http://schemas.openxmlformats.org/officeDocument/2006/relationships/image" Target="../media/image-5-26.png"/><Relationship Id="rId27" Type="http://schemas.openxmlformats.org/officeDocument/2006/relationships/image" Target="../media/image-5-27.png"/><Relationship Id="rId28" Type="http://schemas.openxmlformats.org/officeDocument/2006/relationships/slideLayout" Target="../slideLayouts/slideLayout1.xml"/><Relationship Id="rId29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52650" cy="196215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0650" y="4152900"/>
            <a:ext cx="3181350" cy="36576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0700" y="952500"/>
            <a:ext cx="1828800" cy="18288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8500" y="285750"/>
            <a:ext cx="5715000" cy="28575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8800" y="3524250"/>
            <a:ext cx="914400" cy="381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7800" y="5162550"/>
            <a:ext cx="457200" cy="4572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67400" y="5162550"/>
            <a:ext cx="457200" cy="4572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0" y="5162550"/>
            <a:ext cx="457200" cy="4572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00332" y="6286500"/>
            <a:ext cx="2010668" cy="190500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609600" y="1238250"/>
            <a:ext cx="10972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4500" b="1" spc="180" kern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Predicción de Calidad de Vino Tinto</a:t>
            </a:r>
            <a:endParaRPr lang="en-US" sz="4500" dirty="0"/>
          </a:p>
        </p:txBody>
      </p:sp>
      <p:sp>
        <p:nvSpPr>
          <p:cNvPr id="13" name="Text 1"/>
          <p:cNvSpPr/>
          <p:nvPr/>
        </p:nvSpPr>
        <p:spPr>
          <a:xfrm>
            <a:off x="609600" y="260985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 Machine Learning</a:t>
            </a:r>
            <a:endParaRPr lang="en-US" sz="3600" dirty="0"/>
          </a:p>
        </p:txBody>
      </p:sp>
      <p:sp>
        <p:nvSpPr>
          <p:cNvPr id="14" name="Text 2"/>
          <p:cNvSpPr/>
          <p:nvPr/>
        </p:nvSpPr>
        <p:spPr>
          <a:xfrm>
            <a:off x="2438400" y="4019550"/>
            <a:ext cx="7315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Análisis de un dataset de propiedades fisicoquímicas del vino tinto para desarrollar modelos predictivos de calidad</a:t>
            </a:r>
            <a:endParaRPr lang="en-US" sz="1500" dirty="0"/>
          </a:p>
        </p:txBody>
      </p:sp>
      <p:sp>
        <p:nvSpPr>
          <p:cNvPr id="15" name="Text 3"/>
          <p:cNvSpPr/>
          <p:nvPr/>
        </p:nvSpPr>
        <p:spPr>
          <a:xfrm>
            <a:off x="9800332" y="6286500"/>
            <a:ext cx="241280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Proyecto de Machine Learning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2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333500"/>
            <a:ext cx="3657600" cy="54102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600200"/>
            <a:ext cx="200025" cy="2286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2057400"/>
            <a:ext cx="152400" cy="1524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266700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32766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38862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67200" y="1333500"/>
            <a:ext cx="3657600" cy="54102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95800" y="1752600"/>
            <a:ext cx="228600" cy="2286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5800" y="2324100"/>
            <a:ext cx="3200400" cy="29718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10100" y="2743200"/>
            <a:ext cx="1447800" cy="3429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34100" y="2743200"/>
            <a:ext cx="1447800" cy="3429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10100" y="3162300"/>
            <a:ext cx="1447800" cy="3429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34100" y="3162300"/>
            <a:ext cx="1447800" cy="3429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10100" y="3581400"/>
            <a:ext cx="1447800" cy="3429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34100" y="3581400"/>
            <a:ext cx="1447800" cy="3429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610100" y="4000500"/>
            <a:ext cx="1447800" cy="3429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134100" y="4000500"/>
            <a:ext cx="1447800" cy="3429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610100" y="4419600"/>
            <a:ext cx="1447800" cy="3429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134100" y="4419600"/>
            <a:ext cx="1447800" cy="3429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610100" y="4838700"/>
            <a:ext cx="1447800" cy="3429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495800" y="5410200"/>
            <a:ext cx="3200400" cy="110490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610100" y="5829300"/>
            <a:ext cx="2971800" cy="57150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153400" y="1333500"/>
            <a:ext cx="3657600" cy="541020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382000" y="1752600"/>
            <a:ext cx="228600" cy="228600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382000" y="2324100"/>
            <a:ext cx="3200400" cy="952500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534400" y="2514600"/>
            <a:ext cx="152400" cy="152400"/>
          </a:xfrm>
          <a:prstGeom prst="rect">
            <a:avLst/>
          </a:prstGeom>
        </p:spPr>
      </p:pic>
      <p:pic>
        <p:nvPicPr>
          <p:cNvPr id="30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382000" y="3429000"/>
            <a:ext cx="3200400" cy="952500"/>
          </a:xfrm>
          <a:prstGeom prst="rect">
            <a:avLst/>
          </a:prstGeom>
        </p:spPr>
      </p:pic>
      <p:pic>
        <p:nvPicPr>
          <p:cNvPr id="31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534400" y="3619500"/>
            <a:ext cx="152400" cy="152400"/>
          </a:xfrm>
          <a:prstGeom prst="rect">
            <a:avLst/>
          </a:prstGeom>
        </p:spPr>
      </p:pic>
      <p:pic>
        <p:nvPicPr>
          <p:cNvPr id="32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382000" y="4533900"/>
            <a:ext cx="3200400" cy="952500"/>
          </a:xfrm>
          <a:prstGeom prst="rect">
            <a:avLst/>
          </a:prstGeom>
        </p:spPr>
      </p:pic>
      <p:pic>
        <p:nvPicPr>
          <p:cNvPr id="33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534400" y="4724400"/>
            <a:ext cx="190500" cy="152400"/>
          </a:xfrm>
          <a:prstGeom prst="rect">
            <a:avLst/>
          </a:prstGeom>
        </p:spPr>
      </p:pic>
      <p:sp>
        <p:nvSpPr>
          <p:cNvPr id="34" name="Text 0"/>
          <p:cNvSpPr/>
          <p:nvPr/>
        </p:nvSpPr>
        <p:spPr>
          <a:xfrm>
            <a:off x="457200" y="285750"/>
            <a:ext cx="552408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Descripción del Dataset</a:t>
            </a:r>
            <a:endParaRPr lang="en-US" sz="2700" dirty="0"/>
          </a:p>
        </p:txBody>
      </p:sp>
      <p:sp>
        <p:nvSpPr>
          <p:cNvPr id="35" name="Text 1"/>
          <p:cNvSpPr/>
          <p:nvPr/>
        </p:nvSpPr>
        <p:spPr>
          <a:xfrm>
            <a:off x="923925" y="1562100"/>
            <a:ext cx="38404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Información General</a:t>
            </a:r>
            <a:endParaRPr lang="en-US" sz="1800" dirty="0"/>
          </a:p>
        </p:txBody>
      </p:sp>
      <p:sp>
        <p:nvSpPr>
          <p:cNvPr id="36" name="Text 2"/>
          <p:cNvSpPr/>
          <p:nvPr/>
        </p:nvSpPr>
        <p:spPr>
          <a:xfrm>
            <a:off x="876300" y="2019300"/>
            <a:ext cx="2933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Muestras: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1599 registros de vino tinto</a:t>
            </a:r>
            <a:endParaRPr lang="en-US" sz="1200" dirty="0"/>
          </a:p>
        </p:txBody>
      </p:sp>
      <p:sp>
        <p:nvSpPr>
          <p:cNvPr id="37" name="Text 3"/>
          <p:cNvSpPr/>
          <p:nvPr/>
        </p:nvSpPr>
        <p:spPr>
          <a:xfrm>
            <a:off x="876300" y="2628900"/>
            <a:ext cx="2933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Características: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11 parámetros fisicoquímicos</a:t>
            </a:r>
            <a:endParaRPr lang="en-US" sz="1200" dirty="0"/>
          </a:p>
        </p:txBody>
      </p:sp>
      <p:sp>
        <p:nvSpPr>
          <p:cNvPr id="38" name="Text 4"/>
          <p:cNvSpPr/>
          <p:nvPr/>
        </p:nvSpPr>
        <p:spPr>
          <a:xfrm>
            <a:off x="876300" y="3238500"/>
            <a:ext cx="2933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Variable Objetivo: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Calidad (escala 3-8)</a:t>
            </a:r>
            <a:endParaRPr lang="en-US" sz="1200" dirty="0"/>
          </a:p>
        </p:txBody>
      </p:sp>
      <p:sp>
        <p:nvSpPr>
          <p:cNvPr id="39" name="Text 5"/>
          <p:cNvSpPr/>
          <p:nvPr/>
        </p:nvSpPr>
        <p:spPr>
          <a:xfrm>
            <a:off x="876300" y="3848100"/>
            <a:ext cx="2933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Origen: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Laboratorio de enología de la Universidad de Minho</a:t>
            </a:r>
            <a:endParaRPr lang="en-US" sz="1200" dirty="0"/>
          </a:p>
        </p:txBody>
      </p:sp>
      <p:sp>
        <p:nvSpPr>
          <p:cNvPr id="40" name="Text 6"/>
          <p:cNvSpPr/>
          <p:nvPr/>
        </p:nvSpPr>
        <p:spPr>
          <a:xfrm>
            <a:off x="4838700" y="1562100"/>
            <a:ext cx="3200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Estructura del Dataset</a:t>
            </a:r>
            <a:endParaRPr lang="en-US" sz="1800" dirty="0"/>
          </a:p>
        </p:txBody>
      </p:sp>
      <p:sp>
        <p:nvSpPr>
          <p:cNvPr id="41" name="Text 7"/>
          <p:cNvSpPr/>
          <p:nvPr/>
        </p:nvSpPr>
        <p:spPr>
          <a:xfrm>
            <a:off x="4610100" y="24384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40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Características Fisicoquímicas</a:t>
            </a:r>
            <a:endParaRPr lang="en-US" sz="1200" dirty="0"/>
          </a:p>
        </p:txBody>
      </p:sp>
      <p:sp>
        <p:nvSpPr>
          <p:cNvPr id="42" name="Text 8"/>
          <p:cNvSpPr/>
          <p:nvPr/>
        </p:nvSpPr>
        <p:spPr>
          <a:xfrm>
            <a:off x="4686300" y="2743200"/>
            <a:ext cx="1737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Fixed Acidity</a:t>
            </a:r>
            <a:endParaRPr lang="en-US" sz="1050" dirty="0"/>
          </a:p>
        </p:txBody>
      </p:sp>
      <p:sp>
        <p:nvSpPr>
          <p:cNvPr id="43" name="Text 9"/>
          <p:cNvSpPr/>
          <p:nvPr/>
        </p:nvSpPr>
        <p:spPr>
          <a:xfrm>
            <a:off x="6210300" y="2743200"/>
            <a:ext cx="1737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Volatile Acidity</a:t>
            </a:r>
            <a:endParaRPr lang="en-US" sz="1050" dirty="0"/>
          </a:p>
        </p:txBody>
      </p:sp>
      <p:sp>
        <p:nvSpPr>
          <p:cNvPr id="44" name="Text 10"/>
          <p:cNvSpPr/>
          <p:nvPr/>
        </p:nvSpPr>
        <p:spPr>
          <a:xfrm>
            <a:off x="4686300" y="3162300"/>
            <a:ext cx="1737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Citric Acid</a:t>
            </a:r>
            <a:endParaRPr lang="en-US" sz="1050" dirty="0"/>
          </a:p>
        </p:txBody>
      </p:sp>
      <p:sp>
        <p:nvSpPr>
          <p:cNvPr id="45" name="Text 11"/>
          <p:cNvSpPr/>
          <p:nvPr/>
        </p:nvSpPr>
        <p:spPr>
          <a:xfrm>
            <a:off x="6210300" y="3162300"/>
            <a:ext cx="1737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Residual Sugar</a:t>
            </a:r>
            <a:endParaRPr lang="en-US" sz="1050" dirty="0"/>
          </a:p>
        </p:txBody>
      </p:sp>
      <p:sp>
        <p:nvSpPr>
          <p:cNvPr id="46" name="Text 12"/>
          <p:cNvSpPr/>
          <p:nvPr/>
        </p:nvSpPr>
        <p:spPr>
          <a:xfrm>
            <a:off x="4686300" y="3581400"/>
            <a:ext cx="1447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Chlorides</a:t>
            </a:r>
            <a:endParaRPr lang="en-US" sz="1050" dirty="0"/>
          </a:p>
        </p:txBody>
      </p:sp>
      <p:sp>
        <p:nvSpPr>
          <p:cNvPr id="47" name="Text 13"/>
          <p:cNvSpPr/>
          <p:nvPr/>
        </p:nvSpPr>
        <p:spPr>
          <a:xfrm>
            <a:off x="6210300" y="3581400"/>
            <a:ext cx="1447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Free SO₂</a:t>
            </a:r>
            <a:endParaRPr lang="en-US" sz="1050" dirty="0"/>
          </a:p>
        </p:txBody>
      </p:sp>
      <p:sp>
        <p:nvSpPr>
          <p:cNvPr id="48" name="Text 14"/>
          <p:cNvSpPr/>
          <p:nvPr/>
        </p:nvSpPr>
        <p:spPr>
          <a:xfrm>
            <a:off x="4686300" y="4000500"/>
            <a:ext cx="1447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Total SO₂</a:t>
            </a:r>
            <a:endParaRPr lang="en-US" sz="1050" dirty="0"/>
          </a:p>
        </p:txBody>
      </p:sp>
      <p:sp>
        <p:nvSpPr>
          <p:cNvPr id="49" name="Text 15"/>
          <p:cNvSpPr/>
          <p:nvPr/>
        </p:nvSpPr>
        <p:spPr>
          <a:xfrm>
            <a:off x="6210300" y="4000500"/>
            <a:ext cx="1447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Density</a:t>
            </a:r>
            <a:endParaRPr lang="en-US" sz="1050" dirty="0"/>
          </a:p>
        </p:txBody>
      </p:sp>
      <p:sp>
        <p:nvSpPr>
          <p:cNvPr id="50" name="Text 16"/>
          <p:cNvSpPr/>
          <p:nvPr/>
        </p:nvSpPr>
        <p:spPr>
          <a:xfrm>
            <a:off x="4686300" y="4419600"/>
            <a:ext cx="1447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pH</a:t>
            </a:r>
            <a:endParaRPr lang="en-US" sz="1050" dirty="0"/>
          </a:p>
        </p:txBody>
      </p:sp>
      <p:sp>
        <p:nvSpPr>
          <p:cNvPr id="51" name="Text 17"/>
          <p:cNvSpPr/>
          <p:nvPr/>
        </p:nvSpPr>
        <p:spPr>
          <a:xfrm>
            <a:off x="6210300" y="4419600"/>
            <a:ext cx="1447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Sulphates</a:t>
            </a:r>
            <a:endParaRPr lang="en-US" sz="1050" dirty="0"/>
          </a:p>
        </p:txBody>
      </p:sp>
      <p:sp>
        <p:nvSpPr>
          <p:cNvPr id="52" name="Text 18"/>
          <p:cNvSpPr/>
          <p:nvPr/>
        </p:nvSpPr>
        <p:spPr>
          <a:xfrm>
            <a:off x="4686300" y="4838700"/>
            <a:ext cx="1447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Alcohol</a:t>
            </a:r>
            <a:endParaRPr lang="en-US" sz="1050" dirty="0"/>
          </a:p>
        </p:txBody>
      </p:sp>
      <p:sp>
        <p:nvSpPr>
          <p:cNvPr id="53" name="Text 19"/>
          <p:cNvSpPr/>
          <p:nvPr/>
        </p:nvSpPr>
        <p:spPr>
          <a:xfrm>
            <a:off x="4610100" y="55245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6653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Variable Objetivo</a:t>
            </a:r>
            <a:endParaRPr lang="en-US" sz="1200" dirty="0"/>
          </a:p>
        </p:txBody>
      </p:sp>
      <p:sp>
        <p:nvSpPr>
          <p:cNvPr id="54" name="Text 20"/>
          <p:cNvSpPr/>
          <p:nvPr/>
        </p:nvSpPr>
        <p:spPr>
          <a:xfrm>
            <a:off x="4686300" y="5905500"/>
            <a:ext cx="2819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Quality</a:t>
            </a:r>
            <a:endParaRPr lang="en-US" sz="1200" dirty="0"/>
          </a:p>
        </p:txBody>
      </p:sp>
      <p:sp>
        <p:nvSpPr>
          <p:cNvPr id="55" name="Text 21"/>
          <p:cNvSpPr/>
          <p:nvPr/>
        </p:nvSpPr>
        <p:spPr>
          <a:xfrm>
            <a:off x="4686300" y="6134100"/>
            <a:ext cx="2819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Escala: 3-8</a:t>
            </a:r>
            <a:endParaRPr lang="en-US" sz="1050" dirty="0"/>
          </a:p>
        </p:txBody>
      </p:sp>
      <p:sp>
        <p:nvSpPr>
          <p:cNvPr id="56" name="Text 22"/>
          <p:cNvSpPr/>
          <p:nvPr/>
        </p:nvSpPr>
        <p:spPr>
          <a:xfrm>
            <a:off x="8724900" y="1562100"/>
            <a:ext cx="3200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Propósito del Proyecto</a:t>
            </a:r>
            <a:endParaRPr lang="en-US" sz="1800" dirty="0"/>
          </a:p>
        </p:txBody>
      </p:sp>
      <p:sp>
        <p:nvSpPr>
          <p:cNvPr id="57" name="Text 23"/>
          <p:cNvSpPr/>
          <p:nvPr/>
        </p:nvSpPr>
        <p:spPr>
          <a:xfrm>
            <a:off x="8763000" y="2476500"/>
            <a:ext cx="289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40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Clasificación</a:t>
            </a:r>
            <a:endParaRPr lang="en-US" sz="1200" dirty="0"/>
          </a:p>
        </p:txBody>
      </p:sp>
      <p:sp>
        <p:nvSpPr>
          <p:cNvPr id="58" name="Text 24"/>
          <p:cNvSpPr/>
          <p:nvPr/>
        </p:nvSpPr>
        <p:spPr>
          <a:xfrm>
            <a:off x="8534400" y="2743200"/>
            <a:ext cx="2895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Predecir la calidad del vino (3-8) basada en sus características fisicoquímicas</a:t>
            </a:r>
            <a:endParaRPr lang="en-US" sz="1050" dirty="0"/>
          </a:p>
        </p:txBody>
      </p:sp>
      <p:sp>
        <p:nvSpPr>
          <p:cNvPr id="59" name="Text 25"/>
          <p:cNvSpPr/>
          <p:nvPr/>
        </p:nvSpPr>
        <p:spPr>
          <a:xfrm>
            <a:off x="8763000" y="35814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6653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Análisis Exploratorio</a:t>
            </a:r>
            <a:endParaRPr lang="en-US" sz="1200" dirty="0"/>
          </a:p>
        </p:txBody>
      </p:sp>
      <p:sp>
        <p:nvSpPr>
          <p:cNvPr id="60" name="Text 26"/>
          <p:cNvSpPr/>
          <p:nvPr/>
        </p:nvSpPr>
        <p:spPr>
          <a:xfrm>
            <a:off x="8534400" y="3848100"/>
            <a:ext cx="2895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Investigar relaciones entre características y calidad del vino</a:t>
            </a:r>
            <a:endParaRPr lang="en-US" sz="1050" dirty="0"/>
          </a:p>
        </p:txBody>
      </p:sp>
      <p:sp>
        <p:nvSpPr>
          <p:cNvPr id="61" name="Text 27"/>
          <p:cNvSpPr/>
          <p:nvPr/>
        </p:nvSpPr>
        <p:spPr>
          <a:xfrm>
            <a:off x="8801100" y="46863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6B21A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Comparación de Modelos</a:t>
            </a:r>
            <a:endParaRPr lang="en-US" sz="1200" dirty="0"/>
          </a:p>
        </p:txBody>
      </p:sp>
      <p:sp>
        <p:nvSpPr>
          <p:cNvPr id="62" name="Text 28"/>
          <p:cNvSpPr/>
          <p:nvPr/>
        </p:nvSpPr>
        <p:spPr>
          <a:xfrm>
            <a:off x="8534400" y="4953000"/>
            <a:ext cx="2895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Evaluación de diferentes algoritmos de machine learning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2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714500"/>
            <a:ext cx="3759101" cy="11049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866900"/>
            <a:ext cx="476250" cy="47625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971675"/>
            <a:ext cx="171450" cy="2667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6301" y="1714500"/>
            <a:ext cx="3759250" cy="11049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68701" y="1866900"/>
            <a:ext cx="476250" cy="4762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11576" y="1971675"/>
            <a:ext cx="190500" cy="2667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27950" y="1714500"/>
            <a:ext cx="3759101" cy="11049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80350" y="1866900"/>
            <a:ext cx="476250" cy="4762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32750" y="1971675"/>
            <a:ext cx="171450" cy="2667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4800" y="2971800"/>
            <a:ext cx="3759101" cy="9525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200" y="3124200"/>
            <a:ext cx="476250" cy="47625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0075" y="3228975"/>
            <a:ext cx="190500" cy="2667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16301" y="2971800"/>
            <a:ext cx="3759250" cy="9525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68701" y="3124200"/>
            <a:ext cx="476250" cy="47625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11576" y="3228975"/>
            <a:ext cx="190500" cy="2667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127950" y="2971800"/>
            <a:ext cx="3759101" cy="9525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80350" y="3124200"/>
            <a:ext cx="476250" cy="47625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99413" y="3228975"/>
            <a:ext cx="238125" cy="2667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04800" y="4076700"/>
            <a:ext cx="3759101" cy="11049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57200" y="4229100"/>
            <a:ext cx="476250" cy="47625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76263" y="4333875"/>
            <a:ext cx="238125" cy="26670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216301" y="4076700"/>
            <a:ext cx="3759250" cy="110490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368701" y="4229100"/>
            <a:ext cx="476250" cy="47625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535388" y="4333875"/>
            <a:ext cx="142875" cy="266700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127950" y="4076700"/>
            <a:ext cx="3759101" cy="1104900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280350" y="4229100"/>
            <a:ext cx="476250" cy="476250"/>
          </a:xfrm>
          <a:prstGeom prst="rect">
            <a:avLst/>
          </a:prstGeom>
        </p:spPr>
      </p:pic>
      <p:pic>
        <p:nvPicPr>
          <p:cNvPr id="30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423225" y="4333875"/>
            <a:ext cx="190500" cy="266700"/>
          </a:xfrm>
          <a:prstGeom prst="rect">
            <a:avLst/>
          </a:prstGeom>
        </p:spPr>
      </p:pic>
      <p:pic>
        <p:nvPicPr>
          <p:cNvPr id="31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04800" y="5334000"/>
            <a:ext cx="3759101" cy="952500"/>
          </a:xfrm>
          <a:prstGeom prst="rect">
            <a:avLst/>
          </a:prstGeom>
        </p:spPr>
      </p:pic>
      <p:pic>
        <p:nvPicPr>
          <p:cNvPr id="32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57200" y="5486400"/>
            <a:ext cx="476250" cy="476250"/>
          </a:xfrm>
          <a:prstGeom prst="rect">
            <a:avLst/>
          </a:prstGeom>
        </p:spPr>
      </p:pic>
      <p:pic>
        <p:nvPicPr>
          <p:cNvPr id="33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00075" y="5591175"/>
            <a:ext cx="190500" cy="266700"/>
          </a:xfrm>
          <a:prstGeom prst="rect">
            <a:avLst/>
          </a:prstGeom>
        </p:spPr>
      </p:pic>
      <p:pic>
        <p:nvPicPr>
          <p:cNvPr id="34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216301" y="5334000"/>
            <a:ext cx="3759250" cy="952500"/>
          </a:xfrm>
          <a:prstGeom prst="rect">
            <a:avLst/>
          </a:prstGeom>
        </p:spPr>
      </p:pic>
      <p:pic>
        <p:nvPicPr>
          <p:cNvPr id="35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368701" y="5486400"/>
            <a:ext cx="476250" cy="476250"/>
          </a:xfrm>
          <a:prstGeom prst="rect">
            <a:avLst/>
          </a:prstGeom>
        </p:spPr>
      </p:pic>
      <p:pic>
        <p:nvPicPr>
          <p:cNvPr id="36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511576" y="5591175"/>
            <a:ext cx="190500" cy="266700"/>
          </a:xfrm>
          <a:prstGeom prst="rect">
            <a:avLst/>
          </a:prstGeom>
        </p:spPr>
      </p:pic>
      <p:pic>
        <p:nvPicPr>
          <p:cNvPr id="37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304800" y="6515100"/>
            <a:ext cx="11582400" cy="419100"/>
          </a:xfrm>
          <a:prstGeom prst="rect">
            <a:avLst/>
          </a:prstGeom>
        </p:spPr>
      </p:pic>
      <p:pic>
        <p:nvPicPr>
          <p:cNvPr id="38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419100" y="6648450"/>
            <a:ext cx="133350" cy="133350"/>
          </a:xfrm>
          <a:prstGeom prst="rect">
            <a:avLst/>
          </a:prstGeom>
        </p:spPr>
      </p:pic>
      <p:sp>
        <p:nvSpPr>
          <p:cNvPr id="39" name="Text 0"/>
          <p:cNvSpPr/>
          <p:nvPr/>
        </p:nvSpPr>
        <p:spPr>
          <a:xfrm>
            <a:off x="457200" y="285750"/>
            <a:ext cx="772685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Variables Fisicoquímicas del Vino</a:t>
            </a:r>
            <a:endParaRPr lang="en-US" sz="2700" dirty="0"/>
          </a:p>
        </p:txBody>
      </p:sp>
      <p:sp>
        <p:nvSpPr>
          <p:cNvPr id="40" name="Text 1"/>
          <p:cNvSpPr/>
          <p:nvPr/>
        </p:nvSpPr>
        <p:spPr>
          <a:xfrm>
            <a:off x="304800" y="1257300"/>
            <a:ext cx="1389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El dataset contiene 11 parámetros fisicoquímicos que influyen en la calidad del vino tinto:</a:t>
            </a:r>
            <a:endParaRPr lang="en-US" sz="1200" dirty="0"/>
          </a:p>
        </p:txBody>
      </p:sp>
      <p:sp>
        <p:nvSpPr>
          <p:cNvPr id="41" name="Text 2"/>
          <p:cNvSpPr/>
          <p:nvPr/>
        </p:nvSpPr>
        <p:spPr>
          <a:xfrm>
            <a:off x="1047750" y="1866900"/>
            <a:ext cx="28637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Fixed Acidity</a:t>
            </a:r>
            <a:endParaRPr lang="en-US" sz="1200" dirty="0"/>
          </a:p>
        </p:txBody>
      </p:sp>
      <p:sp>
        <p:nvSpPr>
          <p:cNvPr id="42" name="Text 3"/>
          <p:cNvSpPr/>
          <p:nvPr/>
        </p:nvSpPr>
        <p:spPr>
          <a:xfrm>
            <a:off x="1047750" y="2095500"/>
            <a:ext cx="286375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Acidez fija</a:t>
            </a:r>
            <a:endParaRPr lang="en-US" sz="1050" dirty="0"/>
          </a:p>
        </p:txBody>
      </p:sp>
      <p:sp>
        <p:nvSpPr>
          <p:cNvPr id="43" name="Text 4"/>
          <p:cNvSpPr/>
          <p:nvPr/>
        </p:nvSpPr>
        <p:spPr>
          <a:xfrm>
            <a:off x="1047750" y="2362200"/>
            <a:ext cx="286375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Determina el punto de equilibrio ácido-base del vino</a:t>
            </a:r>
            <a:endParaRPr lang="en-US" sz="900" dirty="0"/>
          </a:p>
        </p:txBody>
      </p:sp>
      <p:sp>
        <p:nvSpPr>
          <p:cNvPr id="44" name="Text 5"/>
          <p:cNvSpPr/>
          <p:nvPr/>
        </p:nvSpPr>
        <p:spPr>
          <a:xfrm>
            <a:off x="4959251" y="1866900"/>
            <a:ext cx="20007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Volatile Acidity</a:t>
            </a:r>
            <a:endParaRPr lang="en-US" sz="1200" dirty="0"/>
          </a:p>
        </p:txBody>
      </p:sp>
      <p:sp>
        <p:nvSpPr>
          <p:cNvPr id="45" name="Text 6"/>
          <p:cNvSpPr/>
          <p:nvPr/>
        </p:nvSpPr>
        <p:spPr>
          <a:xfrm>
            <a:off x="4959251" y="2095500"/>
            <a:ext cx="200078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Acidez volátil</a:t>
            </a:r>
            <a:endParaRPr lang="en-US" sz="1050" dirty="0"/>
          </a:p>
        </p:txBody>
      </p:sp>
      <p:sp>
        <p:nvSpPr>
          <p:cNvPr id="46" name="Text 7"/>
          <p:cNvSpPr/>
          <p:nvPr/>
        </p:nvSpPr>
        <p:spPr>
          <a:xfrm>
            <a:off x="4959251" y="2362200"/>
            <a:ext cx="200078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Volatile Organic Acids (VOAs)</a:t>
            </a:r>
            <a:endParaRPr lang="en-US" sz="900" dirty="0"/>
          </a:p>
        </p:txBody>
      </p:sp>
      <p:sp>
        <p:nvSpPr>
          <p:cNvPr id="47" name="Text 8"/>
          <p:cNvSpPr/>
          <p:nvPr/>
        </p:nvSpPr>
        <p:spPr>
          <a:xfrm>
            <a:off x="8870900" y="1866900"/>
            <a:ext cx="21490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Citric Acid</a:t>
            </a:r>
            <a:endParaRPr lang="en-US" sz="1200" dirty="0"/>
          </a:p>
        </p:txBody>
      </p:sp>
      <p:sp>
        <p:nvSpPr>
          <p:cNvPr id="48" name="Text 9"/>
          <p:cNvSpPr/>
          <p:nvPr/>
        </p:nvSpPr>
        <p:spPr>
          <a:xfrm>
            <a:off x="8870900" y="2095500"/>
            <a:ext cx="21490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Ácido cítrico</a:t>
            </a:r>
            <a:endParaRPr lang="en-US" sz="1050" dirty="0"/>
          </a:p>
        </p:txBody>
      </p:sp>
      <p:sp>
        <p:nvSpPr>
          <p:cNvPr id="49" name="Text 10"/>
          <p:cNvSpPr/>
          <p:nvPr/>
        </p:nvSpPr>
        <p:spPr>
          <a:xfrm>
            <a:off x="8870900" y="2362200"/>
            <a:ext cx="21490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Añade frescura y acidez al vino</a:t>
            </a:r>
            <a:endParaRPr lang="en-US" sz="900" dirty="0"/>
          </a:p>
        </p:txBody>
      </p:sp>
      <p:sp>
        <p:nvSpPr>
          <p:cNvPr id="50" name="Text 11"/>
          <p:cNvSpPr/>
          <p:nvPr/>
        </p:nvSpPr>
        <p:spPr>
          <a:xfrm>
            <a:off x="1047750" y="3124200"/>
            <a:ext cx="23886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Residual Sugar</a:t>
            </a:r>
            <a:endParaRPr lang="en-US" sz="1200" dirty="0"/>
          </a:p>
        </p:txBody>
      </p:sp>
      <p:sp>
        <p:nvSpPr>
          <p:cNvPr id="51" name="Text 12"/>
          <p:cNvSpPr/>
          <p:nvPr/>
        </p:nvSpPr>
        <p:spPr>
          <a:xfrm>
            <a:off x="1047750" y="3352800"/>
            <a:ext cx="238869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Azúcar residual</a:t>
            </a:r>
            <a:endParaRPr lang="en-US" sz="1050" dirty="0"/>
          </a:p>
        </p:txBody>
      </p:sp>
      <p:sp>
        <p:nvSpPr>
          <p:cNvPr id="52" name="Text 13"/>
          <p:cNvSpPr/>
          <p:nvPr/>
        </p:nvSpPr>
        <p:spPr>
          <a:xfrm>
            <a:off x="1047750" y="3619500"/>
            <a:ext cx="23886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Determina el nivel de dulce/salado</a:t>
            </a:r>
            <a:endParaRPr lang="en-US" sz="900" dirty="0"/>
          </a:p>
        </p:txBody>
      </p:sp>
      <p:sp>
        <p:nvSpPr>
          <p:cNvPr id="53" name="Text 14"/>
          <p:cNvSpPr/>
          <p:nvPr/>
        </p:nvSpPr>
        <p:spPr>
          <a:xfrm>
            <a:off x="4959251" y="3124200"/>
            <a:ext cx="1983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Chlorides</a:t>
            </a:r>
            <a:endParaRPr lang="en-US" sz="1200" dirty="0"/>
          </a:p>
        </p:txBody>
      </p:sp>
      <p:sp>
        <p:nvSpPr>
          <p:cNvPr id="54" name="Text 15"/>
          <p:cNvSpPr/>
          <p:nvPr/>
        </p:nvSpPr>
        <p:spPr>
          <a:xfrm>
            <a:off x="4959251" y="3352800"/>
            <a:ext cx="198313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Cloruros</a:t>
            </a:r>
            <a:endParaRPr lang="en-US" sz="1050" dirty="0"/>
          </a:p>
        </p:txBody>
      </p:sp>
      <p:sp>
        <p:nvSpPr>
          <p:cNvPr id="55" name="Text 16"/>
          <p:cNvSpPr/>
          <p:nvPr/>
        </p:nvSpPr>
        <p:spPr>
          <a:xfrm>
            <a:off x="4959251" y="3619500"/>
            <a:ext cx="23797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Contribuye al sabor salino del vino</a:t>
            </a:r>
            <a:endParaRPr lang="en-US" sz="900" dirty="0"/>
          </a:p>
        </p:txBody>
      </p:sp>
      <p:sp>
        <p:nvSpPr>
          <p:cNvPr id="56" name="Text 17"/>
          <p:cNvSpPr/>
          <p:nvPr/>
        </p:nvSpPr>
        <p:spPr>
          <a:xfrm>
            <a:off x="8870900" y="3124200"/>
            <a:ext cx="22885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Free SO₂</a:t>
            </a:r>
            <a:endParaRPr lang="en-US" sz="1200" dirty="0"/>
          </a:p>
        </p:txBody>
      </p:sp>
      <p:sp>
        <p:nvSpPr>
          <p:cNvPr id="57" name="Text 18"/>
          <p:cNvSpPr/>
          <p:nvPr/>
        </p:nvSpPr>
        <p:spPr>
          <a:xfrm>
            <a:off x="8870900" y="3352800"/>
            <a:ext cx="27462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Dióxido de azufre libre</a:t>
            </a:r>
            <a:endParaRPr lang="en-US" sz="1050" dirty="0"/>
          </a:p>
        </p:txBody>
      </p:sp>
      <p:sp>
        <p:nvSpPr>
          <p:cNvPr id="58" name="Text 19"/>
          <p:cNvSpPr/>
          <p:nvPr/>
        </p:nvSpPr>
        <p:spPr>
          <a:xfrm>
            <a:off x="8870900" y="3619500"/>
            <a:ext cx="274623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Previene la oxidación y protege del vino</a:t>
            </a:r>
            <a:endParaRPr lang="en-US" sz="900" dirty="0"/>
          </a:p>
        </p:txBody>
      </p:sp>
      <p:sp>
        <p:nvSpPr>
          <p:cNvPr id="59" name="Text 20"/>
          <p:cNvSpPr/>
          <p:nvPr/>
        </p:nvSpPr>
        <p:spPr>
          <a:xfrm>
            <a:off x="1047750" y="4229100"/>
            <a:ext cx="21368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Total SO₂</a:t>
            </a:r>
            <a:endParaRPr lang="en-US" sz="1200" dirty="0"/>
          </a:p>
        </p:txBody>
      </p:sp>
      <p:sp>
        <p:nvSpPr>
          <p:cNvPr id="60" name="Text 21"/>
          <p:cNvSpPr/>
          <p:nvPr/>
        </p:nvSpPr>
        <p:spPr>
          <a:xfrm>
            <a:off x="1047750" y="4457700"/>
            <a:ext cx="256424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Dióxido de azufre total</a:t>
            </a:r>
            <a:endParaRPr lang="en-US" sz="1050" dirty="0"/>
          </a:p>
        </p:txBody>
      </p:sp>
      <p:sp>
        <p:nvSpPr>
          <p:cNvPr id="61" name="Text 22"/>
          <p:cNvSpPr/>
          <p:nvPr/>
        </p:nvSpPr>
        <p:spPr>
          <a:xfrm>
            <a:off x="1047750" y="4724400"/>
            <a:ext cx="25642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Suma de libre y enlazado con alcohol</a:t>
            </a:r>
            <a:endParaRPr lang="en-US" sz="900" dirty="0"/>
          </a:p>
        </p:txBody>
      </p:sp>
      <p:sp>
        <p:nvSpPr>
          <p:cNvPr id="62" name="Text 23"/>
          <p:cNvSpPr/>
          <p:nvPr/>
        </p:nvSpPr>
        <p:spPr>
          <a:xfrm>
            <a:off x="4959251" y="4229100"/>
            <a:ext cx="2863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Density</a:t>
            </a:r>
            <a:endParaRPr lang="en-US" sz="1200" dirty="0"/>
          </a:p>
        </p:txBody>
      </p:sp>
      <p:sp>
        <p:nvSpPr>
          <p:cNvPr id="63" name="Text 24"/>
          <p:cNvSpPr/>
          <p:nvPr/>
        </p:nvSpPr>
        <p:spPr>
          <a:xfrm>
            <a:off x="4959251" y="4457700"/>
            <a:ext cx="2863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Densidad</a:t>
            </a:r>
            <a:endParaRPr lang="en-US" sz="1050" dirty="0"/>
          </a:p>
        </p:txBody>
      </p:sp>
      <p:sp>
        <p:nvSpPr>
          <p:cNvPr id="64" name="Text 25"/>
          <p:cNvSpPr/>
          <p:nvPr/>
        </p:nvSpPr>
        <p:spPr>
          <a:xfrm>
            <a:off x="4959251" y="4724400"/>
            <a:ext cx="286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Relacionada con el contenido de alcohol y azúcares</a:t>
            </a:r>
            <a:endParaRPr lang="en-US" sz="900" dirty="0"/>
          </a:p>
        </p:txBody>
      </p:sp>
      <p:sp>
        <p:nvSpPr>
          <p:cNvPr id="65" name="Text 26"/>
          <p:cNvSpPr/>
          <p:nvPr/>
        </p:nvSpPr>
        <p:spPr>
          <a:xfrm>
            <a:off x="8870900" y="4229100"/>
            <a:ext cx="13345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pH</a:t>
            </a:r>
            <a:endParaRPr lang="en-US" sz="1200" dirty="0"/>
          </a:p>
        </p:txBody>
      </p:sp>
      <p:sp>
        <p:nvSpPr>
          <p:cNvPr id="66" name="Text 27"/>
          <p:cNvSpPr/>
          <p:nvPr/>
        </p:nvSpPr>
        <p:spPr>
          <a:xfrm>
            <a:off x="8870900" y="4457700"/>
            <a:ext cx="13345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pH</a:t>
            </a:r>
            <a:endParaRPr lang="en-US" sz="1050" dirty="0"/>
          </a:p>
        </p:txBody>
      </p:sp>
      <p:sp>
        <p:nvSpPr>
          <p:cNvPr id="67" name="Text 28"/>
          <p:cNvSpPr/>
          <p:nvPr/>
        </p:nvSpPr>
        <p:spPr>
          <a:xfrm>
            <a:off x="8870900" y="4724400"/>
            <a:ext cx="1601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Escala de acidez (0-14)</a:t>
            </a:r>
            <a:endParaRPr lang="en-US" sz="900" dirty="0"/>
          </a:p>
        </p:txBody>
      </p:sp>
      <p:sp>
        <p:nvSpPr>
          <p:cNvPr id="68" name="Text 29"/>
          <p:cNvSpPr/>
          <p:nvPr/>
        </p:nvSpPr>
        <p:spPr>
          <a:xfrm>
            <a:off x="1047750" y="5486400"/>
            <a:ext cx="261327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Sulphates</a:t>
            </a:r>
            <a:endParaRPr lang="en-US" sz="1200" dirty="0"/>
          </a:p>
        </p:txBody>
      </p:sp>
      <p:sp>
        <p:nvSpPr>
          <p:cNvPr id="69" name="Text 30"/>
          <p:cNvSpPr/>
          <p:nvPr/>
        </p:nvSpPr>
        <p:spPr>
          <a:xfrm>
            <a:off x="1047750" y="5715000"/>
            <a:ext cx="261327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Sulfatos</a:t>
            </a:r>
            <a:endParaRPr lang="en-US" sz="1050" dirty="0"/>
          </a:p>
        </p:txBody>
      </p:sp>
      <p:sp>
        <p:nvSpPr>
          <p:cNvPr id="70" name="Text 31"/>
          <p:cNvSpPr/>
          <p:nvPr/>
        </p:nvSpPr>
        <p:spPr>
          <a:xfrm>
            <a:off x="1047750" y="5981700"/>
            <a:ext cx="31359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Aditivo que puede influir en el aroma del vino</a:t>
            </a:r>
            <a:endParaRPr lang="en-US" sz="900" dirty="0"/>
          </a:p>
        </p:txBody>
      </p:sp>
      <p:sp>
        <p:nvSpPr>
          <p:cNvPr id="71" name="Text 32"/>
          <p:cNvSpPr/>
          <p:nvPr/>
        </p:nvSpPr>
        <p:spPr>
          <a:xfrm>
            <a:off x="4959251" y="5486400"/>
            <a:ext cx="19841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Alcohol</a:t>
            </a:r>
            <a:endParaRPr lang="en-US" sz="1200" dirty="0"/>
          </a:p>
        </p:txBody>
      </p:sp>
      <p:sp>
        <p:nvSpPr>
          <p:cNvPr id="72" name="Text 33"/>
          <p:cNvSpPr/>
          <p:nvPr/>
        </p:nvSpPr>
        <p:spPr>
          <a:xfrm>
            <a:off x="4959251" y="5715000"/>
            <a:ext cx="198417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Alcohol</a:t>
            </a:r>
            <a:endParaRPr lang="en-US" sz="1050" dirty="0"/>
          </a:p>
        </p:txBody>
      </p:sp>
      <p:sp>
        <p:nvSpPr>
          <p:cNvPr id="73" name="Text 34"/>
          <p:cNvSpPr/>
          <p:nvPr/>
        </p:nvSpPr>
        <p:spPr>
          <a:xfrm>
            <a:off x="4959251" y="5981700"/>
            <a:ext cx="238101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Porcentaje de alcohol por volumen</a:t>
            </a:r>
            <a:endParaRPr lang="en-US" sz="900" dirty="0"/>
          </a:p>
        </p:txBody>
      </p:sp>
      <p:sp>
        <p:nvSpPr>
          <p:cNvPr id="74" name="Text 35"/>
          <p:cNvSpPr/>
          <p:nvPr/>
        </p:nvSpPr>
        <p:spPr>
          <a:xfrm>
            <a:off x="628650" y="6629400"/>
            <a:ext cx="136245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Estas variables están altamente correlacionadas entre sí y con la calidad del vino, lo que las hace ideales para modelos predictivos.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2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333500"/>
            <a:ext cx="3657600" cy="52197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600200"/>
            <a:ext cx="257175" cy="2286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3314700"/>
            <a:ext cx="3200400" cy="2857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3867150"/>
            <a:ext cx="114300" cy="1143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4171950"/>
            <a:ext cx="114300" cy="1143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4476750"/>
            <a:ext cx="114300" cy="1143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67200" y="1333500"/>
            <a:ext cx="7543800" cy="52197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95800" y="1600200"/>
            <a:ext cx="228600" cy="2286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5800" y="2019300"/>
            <a:ext cx="5715000" cy="26670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95800" y="4914900"/>
            <a:ext cx="3467100" cy="14097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48200" y="510540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48200" y="5410200"/>
            <a:ext cx="133350" cy="13335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48200" y="5829300"/>
            <a:ext cx="133350" cy="13335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15300" y="4914900"/>
            <a:ext cx="3467100" cy="14097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67700" y="5105400"/>
            <a:ext cx="95250" cy="1524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67700" y="5410200"/>
            <a:ext cx="133350" cy="13335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67700" y="5829300"/>
            <a:ext cx="133350" cy="13335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457200" y="285750"/>
            <a:ext cx="743396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Distribución de Calidad del Vino</a:t>
            </a:r>
            <a:endParaRPr lang="en-US" sz="2700" dirty="0"/>
          </a:p>
        </p:txBody>
      </p:sp>
      <p:sp>
        <p:nvSpPr>
          <p:cNvPr id="22" name="Text 1"/>
          <p:cNvSpPr/>
          <p:nvPr/>
        </p:nvSpPr>
        <p:spPr>
          <a:xfrm>
            <a:off x="981075" y="1562100"/>
            <a:ext cx="38404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Escala de Calidad</a:t>
            </a:r>
            <a:endParaRPr lang="en-US" sz="1800" dirty="0"/>
          </a:p>
        </p:txBody>
      </p:sp>
      <p:sp>
        <p:nvSpPr>
          <p:cNvPr id="23" name="Text 2"/>
          <p:cNvSpPr/>
          <p:nvPr/>
        </p:nvSpPr>
        <p:spPr>
          <a:xfrm>
            <a:off x="609600" y="20193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 calidad del vino en el dataset se mide en una escala de 0 a 10, pero en este conjunto específico, los valores se concentran entre 3 y 8.</a:t>
            </a:r>
            <a:endParaRPr lang="en-US" sz="1200" dirty="0"/>
          </a:p>
        </p:txBody>
      </p:sp>
      <p:sp>
        <p:nvSpPr>
          <p:cNvPr id="24" name="Text 3"/>
          <p:cNvSpPr/>
          <p:nvPr/>
        </p:nvSpPr>
        <p:spPr>
          <a:xfrm>
            <a:off x="609600" y="3086100"/>
            <a:ext cx="3200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Escala de Calidad</a:t>
            </a:r>
            <a:endParaRPr lang="en-US" sz="1050" dirty="0"/>
          </a:p>
        </p:txBody>
      </p:sp>
      <p:sp>
        <p:nvSpPr>
          <p:cNvPr id="25" name="Text 4"/>
          <p:cNvSpPr/>
          <p:nvPr/>
        </p:nvSpPr>
        <p:spPr>
          <a:xfrm>
            <a:off x="466725" y="3076575"/>
            <a:ext cx="285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</a:t>
            </a:r>
            <a:endParaRPr lang="en-US" sz="900" dirty="0"/>
          </a:p>
        </p:txBody>
      </p:sp>
      <p:sp>
        <p:nvSpPr>
          <p:cNvPr id="26" name="Text 5"/>
          <p:cNvSpPr/>
          <p:nvPr/>
        </p:nvSpPr>
        <p:spPr>
          <a:xfrm>
            <a:off x="1266825" y="3076575"/>
            <a:ext cx="285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</a:t>
            </a:r>
            <a:endParaRPr lang="en-US" sz="900" dirty="0"/>
          </a:p>
        </p:txBody>
      </p:sp>
      <p:sp>
        <p:nvSpPr>
          <p:cNvPr id="27" name="Text 6"/>
          <p:cNvSpPr/>
          <p:nvPr/>
        </p:nvSpPr>
        <p:spPr>
          <a:xfrm>
            <a:off x="2066925" y="3076575"/>
            <a:ext cx="285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7</a:t>
            </a:r>
            <a:endParaRPr lang="en-US" sz="900" dirty="0"/>
          </a:p>
        </p:txBody>
      </p:sp>
      <p:sp>
        <p:nvSpPr>
          <p:cNvPr id="28" name="Text 7"/>
          <p:cNvSpPr/>
          <p:nvPr/>
        </p:nvSpPr>
        <p:spPr>
          <a:xfrm>
            <a:off x="3667125" y="3076575"/>
            <a:ext cx="285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8</a:t>
            </a:r>
            <a:endParaRPr lang="en-US" sz="900" dirty="0"/>
          </a:p>
        </p:txBody>
      </p:sp>
      <p:sp>
        <p:nvSpPr>
          <p:cNvPr id="29" name="Text 8"/>
          <p:cNvSpPr/>
          <p:nvPr/>
        </p:nvSpPr>
        <p:spPr>
          <a:xfrm>
            <a:off x="800100" y="3829050"/>
            <a:ext cx="7874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Bajo (3-4)</a:t>
            </a:r>
            <a:endParaRPr lang="en-US" sz="1050" dirty="0"/>
          </a:p>
        </p:txBody>
      </p:sp>
      <p:sp>
        <p:nvSpPr>
          <p:cNvPr id="30" name="Text 9"/>
          <p:cNvSpPr/>
          <p:nvPr/>
        </p:nvSpPr>
        <p:spPr>
          <a:xfrm>
            <a:off x="800100" y="4133850"/>
            <a:ext cx="91761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Medio (5-6)</a:t>
            </a:r>
            <a:endParaRPr lang="en-US" sz="1050" dirty="0"/>
          </a:p>
        </p:txBody>
      </p:sp>
      <p:sp>
        <p:nvSpPr>
          <p:cNvPr id="31" name="Text 10"/>
          <p:cNvSpPr/>
          <p:nvPr/>
        </p:nvSpPr>
        <p:spPr>
          <a:xfrm>
            <a:off x="800100" y="4438650"/>
            <a:ext cx="9461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Bueno (7-8)</a:t>
            </a:r>
            <a:endParaRPr lang="en-US" sz="1050" dirty="0"/>
          </a:p>
        </p:txBody>
      </p:sp>
      <p:sp>
        <p:nvSpPr>
          <p:cNvPr id="32" name="Text 11"/>
          <p:cNvSpPr/>
          <p:nvPr/>
        </p:nvSpPr>
        <p:spPr>
          <a:xfrm>
            <a:off x="4838700" y="1562100"/>
            <a:ext cx="7086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Distribución de Calidad</a:t>
            </a:r>
            <a:endParaRPr lang="en-US" sz="1800" dirty="0"/>
          </a:p>
        </p:txBody>
      </p:sp>
      <p:sp>
        <p:nvSpPr>
          <p:cNvPr id="33" name="Text 12"/>
          <p:cNvSpPr/>
          <p:nvPr/>
        </p:nvSpPr>
        <p:spPr>
          <a:xfrm>
            <a:off x="4876800" y="5067300"/>
            <a:ext cx="3162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40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Observaciones</a:t>
            </a:r>
            <a:endParaRPr lang="en-US" sz="1200" dirty="0"/>
          </a:p>
        </p:txBody>
      </p:sp>
      <p:sp>
        <p:nvSpPr>
          <p:cNvPr id="34" name="Text 13"/>
          <p:cNvSpPr/>
          <p:nvPr/>
        </p:nvSpPr>
        <p:spPr>
          <a:xfrm>
            <a:off x="4857750" y="5372100"/>
            <a:ext cx="2952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 mayoría de los vinos en el dataset tienen una calidad entre 5-6</a:t>
            </a:r>
            <a:endParaRPr lang="en-US" sz="1050" dirty="0"/>
          </a:p>
        </p:txBody>
      </p:sp>
      <p:sp>
        <p:nvSpPr>
          <p:cNvPr id="35" name="Text 14"/>
          <p:cNvSpPr/>
          <p:nvPr/>
        </p:nvSpPr>
        <p:spPr>
          <a:xfrm>
            <a:off x="4857750" y="5791200"/>
            <a:ext cx="2952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Representa una distribución sesgada hacia la calidad media-buena</a:t>
            </a:r>
            <a:endParaRPr lang="en-US" sz="1050" dirty="0"/>
          </a:p>
        </p:txBody>
      </p:sp>
      <p:sp>
        <p:nvSpPr>
          <p:cNvPr id="36" name="Text 15"/>
          <p:cNvSpPr/>
          <p:nvPr/>
        </p:nvSpPr>
        <p:spPr>
          <a:xfrm>
            <a:off x="8439150" y="5067300"/>
            <a:ext cx="3162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6653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Interpretación</a:t>
            </a:r>
            <a:endParaRPr lang="en-US" sz="1200" dirty="0"/>
          </a:p>
        </p:txBody>
      </p:sp>
      <p:sp>
        <p:nvSpPr>
          <p:cNvPr id="37" name="Text 16"/>
          <p:cNvSpPr/>
          <p:nvPr/>
        </p:nvSpPr>
        <p:spPr>
          <a:xfrm>
            <a:off x="8477250" y="5372100"/>
            <a:ext cx="2952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Calidad 5-6: Vinos de calidad media-buena, predominantes</a:t>
            </a:r>
            <a:endParaRPr lang="en-US" sz="1050" dirty="0"/>
          </a:p>
        </p:txBody>
      </p:sp>
      <p:sp>
        <p:nvSpPr>
          <p:cNvPr id="38" name="Text 17"/>
          <p:cNvSpPr/>
          <p:nvPr/>
        </p:nvSpPr>
        <p:spPr>
          <a:xfrm>
            <a:off x="8477250" y="5791200"/>
            <a:ext cx="2952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Calidad 7-8: Vinos de alta calidad, presentes pero menos frecuentes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2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333500"/>
            <a:ext cx="3657600" cy="52197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562100"/>
            <a:ext cx="228600" cy="2286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943100"/>
            <a:ext cx="3276600" cy="12954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77190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3053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8387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67200" y="1333500"/>
            <a:ext cx="3657600" cy="52197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57700" y="1562100"/>
            <a:ext cx="228600" cy="2286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57700" y="1943100"/>
            <a:ext cx="3276600" cy="10668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0" y="209550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57700" y="3124200"/>
            <a:ext cx="3276600" cy="10668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0" y="327660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57700" y="4305300"/>
            <a:ext cx="3276600" cy="10668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72000" y="445770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57700" y="5486400"/>
            <a:ext cx="3276600" cy="8763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72000" y="5638800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153400" y="1333500"/>
            <a:ext cx="3657600" cy="52197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43900" y="1562100"/>
            <a:ext cx="257175" cy="2286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43900" y="1943100"/>
            <a:ext cx="3276600" cy="3810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43900" y="2400300"/>
            <a:ext cx="3276600" cy="3810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43900" y="2857500"/>
            <a:ext cx="3276600" cy="38100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343900" y="3314700"/>
            <a:ext cx="3276600" cy="38100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343900" y="3771900"/>
            <a:ext cx="3276600" cy="38100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343900" y="4305300"/>
            <a:ext cx="3276600" cy="1066800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458200" y="4457700"/>
            <a:ext cx="171450" cy="152400"/>
          </a:xfrm>
          <a:prstGeom prst="rect">
            <a:avLst/>
          </a:prstGeom>
        </p:spPr>
      </p:pic>
      <p:sp>
        <p:nvSpPr>
          <p:cNvPr id="29" name="Text 0"/>
          <p:cNvSpPr/>
          <p:nvPr/>
        </p:nvSpPr>
        <p:spPr>
          <a:xfrm>
            <a:off x="457200" y="285750"/>
            <a:ext cx="1024092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Objetivos del Proyecto de Machine Learning</a:t>
            </a:r>
            <a:endParaRPr lang="en-US" sz="2700" dirty="0"/>
          </a:p>
        </p:txBody>
      </p:sp>
      <p:sp>
        <p:nvSpPr>
          <p:cNvPr id="30" name="Text 1"/>
          <p:cNvSpPr/>
          <p:nvPr/>
        </p:nvSpPr>
        <p:spPr>
          <a:xfrm>
            <a:off x="914400" y="1524000"/>
            <a:ext cx="39319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Objetivo Principal</a:t>
            </a:r>
            <a:endParaRPr lang="en-US" sz="1800" dirty="0"/>
          </a:p>
        </p:txBody>
      </p:sp>
      <p:sp>
        <p:nvSpPr>
          <p:cNvPr id="31" name="Text 2"/>
          <p:cNvSpPr/>
          <p:nvPr/>
        </p:nvSpPr>
        <p:spPr>
          <a:xfrm>
            <a:off x="685800" y="2057400"/>
            <a:ext cx="3048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E40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Desarrollar modelos predictivos para clasificar la calidad del vino tinto usando características fisicoquímicas.</a:t>
            </a:r>
            <a:endParaRPr lang="en-US" sz="1350" dirty="0"/>
          </a:p>
        </p:txBody>
      </p:sp>
      <p:sp>
        <p:nvSpPr>
          <p:cNvPr id="32" name="Text 3"/>
          <p:cNvSpPr/>
          <p:nvPr/>
        </p:nvSpPr>
        <p:spPr>
          <a:xfrm>
            <a:off x="571500" y="3390900"/>
            <a:ext cx="39319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Contexto del Proyecto</a:t>
            </a:r>
            <a:endParaRPr lang="en-US" sz="1350" dirty="0"/>
          </a:p>
        </p:txBody>
      </p:sp>
      <p:sp>
        <p:nvSpPr>
          <p:cNvPr id="33" name="Text 4"/>
          <p:cNvSpPr/>
          <p:nvPr/>
        </p:nvSpPr>
        <p:spPr>
          <a:xfrm>
            <a:off x="838200" y="3733800"/>
            <a:ext cx="3009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Industria: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Enología y producción de vino</a:t>
            </a:r>
            <a:endParaRPr lang="en-US" sz="1200" dirty="0"/>
          </a:p>
        </p:txBody>
      </p:sp>
      <p:sp>
        <p:nvSpPr>
          <p:cNvPr id="34" name="Text 5"/>
          <p:cNvSpPr/>
          <p:nvPr/>
        </p:nvSpPr>
        <p:spPr>
          <a:xfrm>
            <a:off x="838200" y="4267200"/>
            <a:ext cx="3009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Problemática: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Evaluación objetiva de calidad</a:t>
            </a:r>
            <a:endParaRPr lang="en-US" sz="1200" dirty="0"/>
          </a:p>
        </p:txBody>
      </p:sp>
      <p:sp>
        <p:nvSpPr>
          <p:cNvPr id="35" name="Text 6"/>
          <p:cNvSpPr/>
          <p:nvPr/>
        </p:nvSpPr>
        <p:spPr>
          <a:xfrm>
            <a:off x="838200" y="4800600"/>
            <a:ext cx="29357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Valor: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Optimización de procesos</a:t>
            </a:r>
            <a:endParaRPr lang="en-US" sz="1200" dirty="0"/>
          </a:p>
        </p:txBody>
      </p:sp>
      <p:sp>
        <p:nvSpPr>
          <p:cNvPr id="36" name="Text 7"/>
          <p:cNvSpPr/>
          <p:nvPr/>
        </p:nvSpPr>
        <p:spPr>
          <a:xfrm>
            <a:off x="4800600" y="1524000"/>
            <a:ext cx="39319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Objetivos Específicos</a:t>
            </a:r>
            <a:endParaRPr lang="en-US" sz="1800" dirty="0"/>
          </a:p>
        </p:txBody>
      </p:sp>
      <p:sp>
        <p:nvSpPr>
          <p:cNvPr id="37" name="Text 8"/>
          <p:cNvSpPr/>
          <p:nvPr/>
        </p:nvSpPr>
        <p:spPr>
          <a:xfrm>
            <a:off x="4800600" y="2057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40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Análisis Exploratorio</a:t>
            </a:r>
            <a:endParaRPr lang="en-US" sz="1200" dirty="0"/>
          </a:p>
        </p:txBody>
      </p:sp>
      <p:sp>
        <p:nvSpPr>
          <p:cNvPr id="38" name="Text 9"/>
          <p:cNvSpPr/>
          <p:nvPr/>
        </p:nvSpPr>
        <p:spPr>
          <a:xfrm>
            <a:off x="4572000" y="2324100"/>
            <a:ext cx="304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Realizar análisis exploratorio para comprender relaciones entre características y calidad</a:t>
            </a:r>
            <a:endParaRPr lang="en-US" sz="1050" dirty="0"/>
          </a:p>
        </p:txBody>
      </p:sp>
      <p:sp>
        <p:nvSpPr>
          <p:cNvPr id="39" name="Text 10"/>
          <p:cNvSpPr/>
          <p:nvPr/>
        </p:nvSpPr>
        <p:spPr>
          <a:xfrm>
            <a:off x="4800600" y="32385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6B21A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Preprocesamiento de Datos</a:t>
            </a:r>
            <a:endParaRPr lang="en-US" sz="1200" dirty="0"/>
          </a:p>
        </p:txBody>
      </p:sp>
      <p:sp>
        <p:nvSpPr>
          <p:cNvPr id="40" name="Text 11"/>
          <p:cNvSpPr/>
          <p:nvPr/>
        </p:nvSpPr>
        <p:spPr>
          <a:xfrm>
            <a:off x="4572000" y="3505200"/>
            <a:ext cx="304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Limpiar, normalizar y seleccionar características para mejorar la calidad de datos</a:t>
            </a:r>
            <a:endParaRPr lang="en-US" sz="1050" dirty="0"/>
          </a:p>
        </p:txBody>
      </p:sp>
      <p:sp>
        <p:nvSpPr>
          <p:cNvPr id="41" name="Text 12"/>
          <p:cNvSpPr/>
          <p:nvPr/>
        </p:nvSpPr>
        <p:spPr>
          <a:xfrm>
            <a:off x="4800600" y="4419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6653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Desarrollo de Modelos</a:t>
            </a:r>
            <a:endParaRPr lang="en-US" sz="1200" dirty="0"/>
          </a:p>
        </p:txBody>
      </p:sp>
      <p:sp>
        <p:nvSpPr>
          <p:cNvPr id="42" name="Text 13"/>
          <p:cNvSpPr/>
          <p:nvPr/>
        </p:nvSpPr>
        <p:spPr>
          <a:xfrm>
            <a:off x="4572000" y="4686300"/>
            <a:ext cx="304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Desarrollar y comparar diferentes modelos ML (árboles, bosques aleatorios, redes neuronales)</a:t>
            </a:r>
            <a:endParaRPr lang="en-US" sz="1050" dirty="0"/>
          </a:p>
        </p:txBody>
      </p:sp>
      <p:sp>
        <p:nvSpPr>
          <p:cNvPr id="43" name="Text 14"/>
          <p:cNvSpPr/>
          <p:nvPr/>
        </p:nvSpPr>
        <p:spPr>
          <a:xfrm>
            <a:off x="4800600" y="56007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54D0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Evaluación y Validación</a:t>
            </a:r>
            <a:endParaRPr lang="en-US" sz="1200" dirty="0"/>
          </a:p>
        </p:txBody>
      </p:sp>
      <p:sp>
        <p:nvSpPr>
          <p:cNvPr id="44" name="Text 15"/>
          <p:cNvSpPr/>
          <p:nvPr/>
        </p:nvSpPr>
        <p:spPr>
          <a:xfrm>
            <a:off x="4572000" y="5867400"/>
            <a:ext cx="304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Validar modelos usando métricas y realizar ajustes para optimizar precisión</a:t>
            </a:r>
            <a:endParaRPr lang="en-US" sz="1050" dirty="0"/>
          </a:p>
        </p:txBody>
      </p:sp>
      <p:sp>
        <p:nvSpPr>
          <p:cNvPr id="45" name="Text 16"/>
          <p:cNvSpPr/>
          <p:nvPr/>
        </p:nvSpPr>
        <p:spPr>
          <a:xfrm>
            <a:off x="8715375" y="1524000"/>
            <a:ext cx="39319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Flujo de Trabajo</a:t>
            </a:r>
            <a:endParaRPr lang="en-US" sz="1800" dirty="0"/>
          </a:p>
        </p:txBody>
      </p:sp>
      <p:sp>
        <p:nvSpPr>
          <p:cNvPr id="46" name="Text 17"/>
          <p:cNvSpPr/>
          <p:nvPr/>
        </p:nvSpPr>
        <p:spPr>
          <a:xfrm>
            <a:off x="8892972" y="2038350"/>
            <a:ext cx="217830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40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1. Exploración de Datos</a:t>
            </a:r>
            <a:endParaRPr lang="en-US" sz="1200" dirty="0"/>
          </a:p>
        </p:txBody>
      </p:sp>
      <p:sp>
        <p:nvSpPr>
          <p:cNvPr id="47" name="Text 18"/>
          <p:cNvSpPr/>
          <p:nvPr/>
        </p:nvSpPr>
        <p:spPr>
          <a:xfrm>
            <a:off x="9040133" y="2495550"/>
            <a:ext cx="188398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21A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2. Preprocesamiento</a:t>
            </a:r>
            <a:endParaRPr lang="en-US" sz="1200" dirty="0"/>
          </a:p>
        </p:txBody>
      </p:sp>
      <p:sp>
        <p:nvSpPr>
          <p:cNvPr id="48" name="Text 19"/>
          <p:cNvSpPr/>
          <p:nvPr/>
        </p:nvSpPr>
        <p:spPr>
          <a:xfrm>
            <a:off x="9421252" y="2952750"/>
            <a:ext cx="112174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653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3. Modelado</a:t>
            </a:r>
            <a:endParaRPr lang="en-US" sz="1200" dirty="0"/>
          </a:p>
        </p:txBody>
      </p:sp>
      <p:sp>
        <p:nvSpPr>
          <p:cNvPr id="49" name="Text 20"/>
          <p:cNvSpPr/>
          <p:nvPr/>
        </p:nvSpPr>
        <p:spPr>
          <a:xfrm>
            <a:off x="9368924" y="3409950"/>
            <a:ext cx="122640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54D0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4. Evaluación</a:t>
            </a:r>
            <a:endParaRPr lang="en-US" sz="1200" dirty="0"/>
          </a:p>
        </p:txBody>
      </p:sp>
      <p:sp>
        <p:nvSpPr>
          <p:cNvPr id="50" name="Text 21"/>
          <p:cNvSpPr/>
          <p:nvPr/>
        </p:nvSpPr>
        <p:spPr>
          <a:xfrm>
            <a:off x="9354101" y="3867150"/>
            <a:ext cx="12560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91B1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5. Despliegue</a:t>
            </a:r>
            <a:endParaRPr lang="en-US" sz="1200" dirty="0"/>
          </a:p>
        </p:txBody>
      </p:sp>
      <p:sp>
        <p:nvSpPr>
          <p:cNvPr id="51" name="Text 22"/>
          <p:cNvSpPr/>
          <p:nvPr/>
        </p:nvSpPr>
        <p:spPr>
          <a:xfrm>
            <a:off x="8705850" y="4419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Conclusiones Esperadas</a:t>
            </a:r>
            <a:endParaRPr lang="en-US" sz="1200" dirty="0"/>
          </a:p>
        </p:txBody>
      </p:sp>
      <p:sp>
        <p:nvSpPr>
          <p:cNvPr id="52" name="Text 23"/>
          <p:cNvSpPr/>
          <p:nvPr/>
        </p:nvSpPr>
        <p:spPr>
          <a:xfrm>
            <a:off x="8458200" y="4686300"/>
            <a:ext cx="304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Desarrollar un modelo predictivo preciso para clasificar la calidad del vino, permitiendo tomar decisiones informadas.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2025-12-04T11:14:07Z</dcterms:created>
  <dcterms:modified xsi:type="dcterms:W3CDTF">2025-12-04T11:14:07Z</dcterms:modified>
</cp:coreProperties>
</file>